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1051560" cy="64008"/>
          </a:xfrm>
          <a:prstGeom prst="rect">
            <a:avLst/>
          </a:prstGeom>
          <a:solidFill>
            <a:srgbClr val="36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804672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5F7FA"/>
                </a:solidFill>
                <a:latin typeface="Aptos"/>
              </a:rPr>
              <a:t>EV CHARGING STATION
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7680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C4DC"/>
                </a:solidFill>
                <a:latin typeface="Aptos"/>
              </a:rPr>
              <a:t>Power BI Dashboard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794760"/>
            <a:ext cx="71323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B7C2D0"/>
                </a:solidFill>
                <a:latin typeface="Aptos"/>
              </a:rPr>
              <a:t>An interactive overview of charging sessions, revenue,
energy delivery, charger mix, and customer ratings.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897880"/>
            <a:ext cx="5029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7C2D0"/>
                </a:solidFill>
                <a:latin typeface="Aptos"/>
              </a:rPr>
              <a:t>Prepared by: Pranjal Sahu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4480560"/>
            <a:ext cx="310896" cy="914400"/>
          </a:xfrm>
          <a:prstGeom prst="rect">
            <a:avLst/>
          </a:prstGeom>
          <a:solidFill>
            <a:srgbClr val="389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42832" y="3931920"/>
            <a:ext cx="310896" cy="1463040"/>
          </a:xfrm>
          <a:prstGeom prst="rect">
            <a:avLst/>
          </a:prstGeom>
          <a:solidFill>
            <a:srgbClr val="36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73184" y="3429000"/>
            <a:ext cx="310896" cy="1965960"/>
          </a:xfrm>
          <a:prstGeom prst="rect">
            <a:avLst/>
          </a:prstGeom>
          <a:solidFill>
            <a:srgbClr val="389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03536" y="4160520"/>
            <a:ext cx="310896" cy="1234440"/>
          </a:xfrm>
          <a:prstGeom prst="rect">
            <a:avLst/>
          </a:prstGeom>
          <a:solidFill>
            <a:srgbClr val="36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33888" y="2926080"/>
            <a:ext cx="310896" cy="2468880"/>
          </a:xfrm>
          <a:prstGeom prst="rect">
            <a:avLst/>
          </a:prstGeom>
          <a:solidFill>
            <a:srgbClr val="389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01  | 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777240" cy="64008"/>
          </a:xfrm>
          <a:prstGeom prst="rect">
            <a:avLst/>
          </a:prstGeom>
          <a:solidFill>
            <a:srgbClr val="36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9377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36C4DC"/>
                </a:solidFill>
                <a:latin typeface="Aptos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4754880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To analyse EV charging activity across multiple cities and understand revenue generation, energy delivery, charger usage, and session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00200"/>
            <a:ext cx="49377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36C4DC"/>
                </a:solidFill>
                <a:latin typeface="Aptos"/>
              </a:rPr>
              <a:t>Dataset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48840"/>
            <a:ext cx="512064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600 charging-session records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16 fields covering date, city, charger, customer, payment, status, energy, revenue, uptime, utilization, and rating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Data period: January 2025 to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7C2D0"/>
                </a:solidFill>
                <a:latin typeface="Aptos"/>
              </a:rPr>
              <a:t>Note: The analysis is based on the dataset provided for this project.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02  |  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777240" cy="64008"/>
          </a:xfrm>
          <a:prstGeom prst="rect">
            <a:avLst/>
          </a:prstGeom>
          <a:solidFill>
            <a:srgbClr val="36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1508760"/>
          </a:xfrm>
          <a:prstGeom prst="roundRect">
            <a:avLst/>
          </a:prstGeom>
          <a:solidFill>
            <a:srgbClr val="1D2738"/>
          </a:solidFill>
          <a:ln>
            <a:solidFill>
              <a:srgbClr val="389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01952"/>
            <a:ext cx="4572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36C4DC"/>
                </a:solidFill>
                <a:latin typeface="Aptos"/>
              </a:rPr>
              <a:t>₹205.02K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61488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7C2D0"/>
                </a:solidFill>
                <a:latin typeface="Aptos"/>
              </a:rPr>
              <a:t>Revenue from completed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508760"/>
          </a:xfrm>
          <a:prstGeom prst="roundRect">
            <a:avLst/>
          </a:prstGeom>
          <a:solidFill>
            <a:srgbClr val="1D2738"/>
          </a:solidFill>
          <a:ln>
            <a:solidFill>
              <a:srgbClr val="389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01952"/>
            <a:ext cx="4572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36C4DC"/>
                </a:solidFill>
                <a:latin typeface="Aptos"/>
              </a:rPr>
              <a:t>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2316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Charging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761488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7C2D0"/>
                </a:solidFill>
                <a:latin typeface="Aptos"/>
              </a:rPr>
              <a:t>Total records in the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5029200" cy="1508760"/>
          </a:xfrm>
          <a:prstGeom prst="roundRect">
            <a:avLst/>
          </a:prstGeom>
          <a:solidFill>
            <a:srgbClr val="1D2738"/>
          </a:solidFill>
          <a:ln>
            <a:solidFill>
              <a:srgbClr val="389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59352"/>
            <a:ext cx="4572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36C4DC"/>
                </a:solidFill>
                <a:latin typeface="Aptos"/>
              </a:rPr>
              <a:t>12.49K kWh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Energy 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7C2D0"/>
                </a:solidFill>
                <a:latin typeface="Aptos"/>
              </a:rPr>
              <a:t>Sum of recorded energy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029200" cy="1508760"/>
          </a:xfrm>
          <a:prstGeom prst="roundRect">
            <a:avLst/>
          </a:prstGeom>
          <a:solidFill>
            <a:srgbClr val="1D2738"/>
          </a:solidFill>
          <a:ln>
            <a:solidFill>
              <a:srgbClr val="389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59352"/>
            <a:ext cx="4572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36C4DC"/>
                </a:solidFill>
                <a:latin typeface="Aptos"/>
              </a:rPr>
              <a:t>3.87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48056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Average Customer 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818888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7C2D0"/>
                </a:solidFill>
                <a:latin typeface="Aptos"/>
              </a:rPr>
              <a:t>Average rating across sessions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03  |  MONTHLY REVENUE TREND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777240" cy="64008"/>
          </a:xfrm>
          <a:prstGeom prst="rect">
            <a:avLst/>
          </a:prstGeom>
          <a:solidFill>
            <a:srgbClr val="36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6C4DC"/>
                </a:solidFill>
                <a:latin typeface="Aptos"/>
              </a:rPr>
              <a:t>What the chart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420624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Revenue changes noticeably from month to month.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Some months perform strongly, while others show sharp drops.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The trend helps identify periods that may need operational or marketing review.</a:t>
            </a:r>
          </a:p>
        </p:txBody>
      </p:sp>
      <p:pic>
        <p:nvPicPr>
          <p:cNvPr id="6" name="Picture 5" descr="monthly_revenue_char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645920"/>
            <a:ext cx="6217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04  |  CITY &amp; CHARGER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777240" cy="64008"/>
          </a:xfrm>
          <a:prstGeom prst="rect">
            <a:avLst/>
          </a:prstGeom>
          <a:solidFill>
            <a:srgbClr val="36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937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6C4DC"/>
                </a:solidFill>
                <a:latin typeface="Aptos"/>
              </a:rPr>
              <a:t>Revenue by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48463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Agra and Kanpur appear among the highest-revenue cities in this dataset.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Noida has the lowest revenue among the displayed cities.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City comparisons can guide where to investigate demand and station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4937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6C4DC"/>
                </a:solidFill>
                <a:latin typeface="Aptos"/>
              </a:rPr>
              <a:t>Sessions by charger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148840"/>
            <a:ext cx="512064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DC Fast: 268 sessions (44.67%)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AC: 256 sessions (42.67%)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Ultra Fast: 76 sessions (12.67%)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899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Interpretation: DC Fast and AC account for most sessions; Ultra Fast is used less frequently in this sample.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05  |  SESSION OUTCOMES &amp; ENERGY DELIVERY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777240" cy="64008"/>
          </a:xfrm>
          <a:prstGeom prst="rect">
            <a:avLst/>
          </a:prstGeom>
          <a:solidFill>
            <a:srgbClr val="36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6C4DC"/>
                </a:solidFill>
                <a:latin typeface="Aptos"/>
              </a:rPr>
              <a:t>Session status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484632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Completed: 454 sessions (75.67%)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Cancelled: 87 sessions (14.50%)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Failed: 59 sessions (9.83%)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4937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6C4DC"/>
                </a:solidFill>
                <a:latin typeface="Aptos"/>
              </a:rPr>
              <a:t>Energy delivered by charger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148840"/>
            <a:ext cx="512064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DC Fast contributes the highest total energy delivery in the chart.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AC contributes a substantial share despite longer typical charging times.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Ultra Fast has fewer sessions and lower total energy in this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7899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Business use: monitor failed/cancelled sessions and review charger mix against customer demand.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06  |  CUSTOMER EXPERIENCE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777240" cy="64008"/>
          </a:xfrm>
          <a:prstGeom prst="rect">
            <a:avLst/>
          </a:prstGeom>
          <a:solidFill>
            <a:srgbClr val="36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937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6C4DC"/>
                </a:solidFill>
                <a:latin typeface="Aptos"/>
              </a:rPr>
              <a:t>Customer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493776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Average customer rating is 3.87 out of 5.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The score suggests generally positive ratings, but there is room for improvement.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Rating should be compared by city, station, and session status for deeper insight.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4937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6C4DC"/>
                </a:solidFill>
                <a:latin typeface="Aptos"/>
              </a:rPr>
              <a:t>Recommended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148840"/>
            <a:ext cx="51206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Investigate cancelled and failed sessions to identify recurring causes.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Review lower-revenue cities and stations before making expansion decisions.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Track uptime and utilization alongside revenue.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Add slicers for city, charger type, and date to support interactive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7C2D0"/>
                </a:solidFill>
                <a:latin typeface="Aptos"/>
              </a:rPr>
              <a:t>These findings are based on the available project data and should be interpreted in that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Aptos"/>
              </a:rPr>
              <a:t>07  |  FINAL POWER BI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22960"/>
            <a:ext cx="777240" cy="64008"/>
          </a:xfrm>
          <a:prstGeom prst="rect">
            <a:avLst/>
          </a:prstGeom>
          <a:solidFill>
            <a:srgbClr val="36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f838aa6-54ea-4c76-9e49-c3b6cd9e1a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508" y="1051560"/>
            <a:ext cx="9492678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08  | 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777240" cy="64008"/>
          </a:xfrm>
          <a:prstGeom prst="rect">
            <a:avLst/>
          </a:prstGeom>
          <a:solidFill>
            <a:srgbClr val="36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Aptos"/>
              </a:rPr>
              <a:t>The dashboard brings charging activity, revenue, energy delivery, charger mix, and session outcomes into one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It helps compare performance across cities and charger categories.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It highlights operational issues through cancelled and failed sessions.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It provides a foundation for more detailed station-level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6C4DC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